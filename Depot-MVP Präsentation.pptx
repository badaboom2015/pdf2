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</a:rPr>
              <a:t>Depot-MVP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BBBBDD"/>
                </a:solidFill>
              </a:rPr>
              <a:t>Automatische Portfolio-Analyse aus CSV &amp; PDF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67EEA"/>
                </a:solidFill>
              </a:rPr>
              <a:t>Interactive Brokers · Echtzeit-Auswertung · KI-Kommentar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888AA"/>
                </a:solidFill>
              </a:rPr>
              <a:t>Tim Solovyev  ·  Dr. Mayer Consulting GmbH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0" y="1371600"/>
            <a:ext cx="2468880" cy="411480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0" y="25603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>
                <a:solidFill>
                  <a:srgbClr val="FFFFFF"/>
                </a:solidFill>
              </a:rPr>
              <a:t>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Das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200">
                <a:solidFill>
                  <a:srgbClr val="222233"/>
                </a:solidFill>
              </a:rPr>
              <a:t>●  IB-Kontoauszüge als CSV/PDF sind unlesbar für Nicht-Techniker</a:t>
            </a:r>
          </a:p>
          <a:p>
            <a:pPr>
              <a:spcBef>
                <a:spcPts val="400"/>
              </a:spcBef>
            </a:pPr>
            <a:r>
              <a:rPr sz="2200">
                <a:solidFill>
                  <a:srgbClr val="222233"/>
                </a:solidFill>
              </a:rPr>
              <a:t>●  Manuelle Auswertung in Excel dauert Stunden</a:t>
            </a:r>
          </a:p>
          <a:p>
            <a:pPr>
              <a:spcBef>
                <a:spcPts val="400"/>
              </a:spcBef>
            </a:pPr>
            <a:r>
              <a:rPr sz="2200">
                <a:solidFill>
                  <a:srgbClr val="222233"/>
                </a:solidFill>
              </a:rPr>
              <a:t>●  Klumpenrisiken &amp; Konzentration werden leicht übersehen</a:t>
            </a:r>
          </a:p>
          <a:p>
            <a:pPr>
              <a:spcBef>
                <a:spcPts val="400"/>
              </a:spcBef>
            </a:pPr>
            <a:r>
              <a:rPr sz="2200">
                <a:solidFill>
                  <a:srgbClr val="222233"/>
                </a:solidFill>
              </a:rPr>
              <a:t>●  Keine schnelle Übersicht über Asset-Mix und Gewichtung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Die Lösung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667EEA"/>
                </a:solidFill>
              </a:rPr>
              <a:t>Datei hochladen  →  sofortige Analyse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286000"/>
            <a:ext cx="2651760" cy="320040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4231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667EEA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CSV oder PDF hochladen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8620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AACC"/>
                </a:solidFill>
              </a:rPr>
              <a:t>Drag &amp; Drop im Browser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2286000"/>
            <a:ext cx="2651760" cy="320040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24231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667EEA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2004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Parser erkennt Format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88620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AACC"/>
                </a:solidFill>
              </a:rPr>
              <a:t>IB-Statement automatisch erkannt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86000"/>
            <a:ext cx="2651760" cy="320040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4231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667EEA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2004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Analyse in Sekunden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88620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AACC"/>
                </a:solidFill>
              </a:rPr>
              <a:t>Wert, Gewichtung, Top-5, Risiken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2286000"/>
            <a:ext cx="2651760" cy="320040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24231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667EEA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2004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KI-Kommentar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88620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AACC"/>
                </a:solidFill>
              </a:rPr>
              <a:t>Klarer Text, keine Fachsprache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Strukturierte Ausgabe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2103120" cy="5486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Wertpapier &amp; Ticker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920240"/>
            <a:ext cx="2103120" cy="47548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94767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2233"/>
                </a:solidFill>
              </a:rPr>
              <a:t>AAPL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23160"/>
            <a:ext cx="21031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45059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2233"/>
                </a:solidFill>
              </a:rPr>
              <a:t>MSFT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926080"/>
            <a:ext cx="2103120" cy="47548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95351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2233"/>
                </a:solidFill>
              </a:rPr>
              <a:t>NVDA 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42032" y="1371600"/>
            <a:ext cx="2103120" cy="5486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417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Stückzahl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920240"/>
            <a:ext cx="2103120" cy="47548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3472" y="194767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2233"/>
                </a:solidFill>
              </a:rPr>
              <a:t>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42032" y="2423160"/>
            <a:ext cx="21031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33472" y="245059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2233"/>
                </a:solidFill>
              </a:rPr>
              <a:t>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42032" y="2926080"/>
            <a:ext cx="2103120" cy="47548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33472" y="295351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2233"/>
                </a:solidFill>
              </a:rPr>
              <a:t>30 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09744" y="1371600"/>
            <a:ext cx="2103120" cy="5486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01184" y="1417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Aktueller Wert (EUR)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09744" y="1920240"/>
            <a:ext cx="2103120" cy="47548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01184" y="194767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2233"/>
                </a:solidFill>
              </a:rPr>
              <a:t>17.454 €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09744" y="2423160"/>
            <a:ext cx="21031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01184" y="245059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2233"/>
                </a:solidFill>
              </a:rPr>
              <a:t>17.231 €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09744" y="2926080"/>
            <a:ext cx="2103120" cy="47548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01184" y="295351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2233"/>
                </a:solidFill>
              </a:rPr>
              <a:t>24.183 €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77456" y="1371600"/>
            <a:ext cx="2103120" cy="5486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68896" y="1417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Gewichtung 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77456" y="1920240"/>
            <a:ext cx="2103120" cy="47548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68896" y="194767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2233"/>
                </a:solidFill>
              </a:rPr>
              <a:t>19,0 %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77456" y="2423160"/>
            <a:ext cx="21031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68896" y="245059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2233"/>
                </a:solidFill>
              </a:rPr>
              <a:t>18,8 %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77456" y="2926080"/>
            <a:ext cx="2103120" cy="47548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68896" y="295351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2233"/>
                </a:solidFill>
              </a:rPr>
              <a:t>26,4 %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45168" y="1371600"/>
            <a:ext cx="2103120" cy="5486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36608" y="1417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Asset-Typ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45168" y="1920240"/>
            <a:ext cx="2103120" cy="47548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36608" y="194767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2233"/>
                </a:solidFill>
              </a:rPr>
              <a:t>Aktie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345168" y="2423160"/>
            <a:ext cx="21031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36608" y="245059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2233"/>
                </a:solidFill>
              </a:rPr>
              <a:t>ETF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45168" y="2926080"/>
            <a:ext cx="2103120" cy="47548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36608" y="295351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2233"/>
                </a:solidFill>
              </a:rPr>
              <a:t>Option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45168" y="3429000"/>
            <a:ext cx="21031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36608" y="345643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2233"/>
                </a:solidFill>
              </a:rPr>
              <a:t>Anleihe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345168" y="3931920"/>
            <a:ext cx="2103120" cy="47548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36608" y="395935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2233"/>
                </a:solidFill>
              </a:rPr>
              <a:t>Rohstoff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45168" y="4434840"/>
            <a:ext cx="21031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36608" y="446227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2233"/>
                </a:solidFill>
              </a:rPr>
              <a:t>Cash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Portfolio-Analyse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2651760" cy="4389120"/>
          </a:xfrm>
          <a:prstGeom prst="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2651760" cy="109728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💰 Gesamtwert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2316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DD"/>
                </a:solidFill>
              </a:rPr>
              <a:t>Summe aller Positionen
in EUR</a:t>
            </a:r>
          </a:p>
        </p:txBody>
      </p:sp>
      <p:sp>
        <p:nvSpPr>
          <p:cNvPr id="8" name="Rectangle 7"/>
          <p:cNvSpPr/>
          <p:nvPr/>
        </p:nvSpPr>
        <p:spPr>
          <a:xfrm>
            <a:off x="3273552" y="1463040"/>
            <a:ext cx="2651760" cy="4389120"/>
          </a:xfrm>
          <a:prstGeom prst="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73552" y="1463040"/>
            <a:ext cx="2651760" cy="109728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0712" y="16459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🏆 Top-5 Positionen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0712" y="242316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DD"/>
                </a:solidFill>
              </a:rPr>
              <a:t>Größte Positionen nach
Marktwert &amp; Gewichtung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4" y="1463040"/>
            <a:ext cx="2651760" cy="4389120"/>
          </a:xfrm>
          <a:prstGeom prst="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81344" y="1463040"/>
            <a:ext cx="2651760" cy="10972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8504" y="16459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⚠️ Klumpenrisiken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242316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DD"/>
                </a:solidFill>
              </a:rPr>
              <a:t>Warnung ab 15 % Einzel-
position oder 40 % Top-5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89136" y="1463040"/>
            <a:ext cx="2651760" cy="4389120"/>
          </a:xfrm>
          <a:prstGeom prst="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89136" y="1463040"/>
            <a:ext cx="2651760" cy="10972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6459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🌍 Tech/USA-Anteil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6296" y="242316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DD"/>
                </a:solidFill>
              </a:rPr>
              <a:t>Erkennt Konzentration in
US-Technologie-Werte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Tech-Stack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1828800" cy="6858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508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2233"/>
                </a:solidFill>
              </a:rPr>
              <a:t>HTML · CSS · Vanilla 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50876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77"/>
                </a:solidFill>
              </a:rPr>
              <a:t>Drag &amp; Drop Upload, responsive Tabellen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77440"/>
            <a:ext cx="1828800" cy="6858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423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2233"/>
                </a:solidFill>
              </a:rPr>
              <a:t>Python · Flask · Gunicorn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42316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77"/>
                </a:solidFill>
              </a:rPr>
              <a:t>REST-API, Datei-Upload, JSON-Response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291840"/>
            <a:ext cx="1828800" cy="6858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3832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Parser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3375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2233"/>
                </a:solidFill>
              </a:rPr>
              <a:t>pdfplumber · csv · pandas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33756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77"/>
                </a:solidFill>
              </a:rPr>
              <a:t>IB-CSV Erkennung, FX-Umrechnung, PDF-Fallback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206240"/>
            <a:ext cx="1828800" cy="6858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2976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Analyse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4251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2233"/>
                </a:solidFill>
              </a:rPr>
              <a:t>pandas · NumPy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425196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77"/>
                </a:solidFill>
              </a:rPr>
              <a:t>Gewichtung, Top-N, Asset-Typ, Konzentration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120640"/>
            <a:ext cx="1828800" cy="6858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2120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Deploy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5166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2233"/>
                </a:solidFill>
              </a:rPr>
              <a:t>AWS Elastic Beanstalk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516636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77"/>
                </a:solidFill>
              </a:rPr>
              <a:t>Öffentlich erreichbar, automatisch skalierend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So funktioniert 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822960" cy="82296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App öffnen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9659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AAACC"/>
                </a:solidFill>
              </a:rPr>
              <a:t>localhost:8080 im Browser aufrufen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822960" cy="82296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788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43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Datei hochladen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154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AAACC"/>
                </a:solidFill>
              </a:rPr>
              <a:t>IB-CSV oder PDF per Drag &amp; Drop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931920"/>
            <a:ext cx="822960" cy="82296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9776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Automatisch analysiert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343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AAACC"/>
                </a:solidFill>
              </a:rPr>
              <a:t>Parser erkennt Format, berechnet Kennzahlen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120640"/>
            <a:ext cx="822960" cy="82296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1663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120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Ergebnisse lesen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532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AAACC"/>
                </a:solidFill>
              </a:rPr>
              <a:t>Tabellen, Warnungen &amp; KI-Kommentar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Nächste Schritte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CAF50"/>
                </a:solidFill>
              </a:rPr>
              <a:t>Fertig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222233"/>
                </a:solidFill>
              </a:rPr>
              <a:t>  ✅ IB-CSV Parser (automatische Erkennung)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222233"/>
                </a:solidFill>
              </a:rPr>
              <a:t>  ✅ FX-Umrechnung USD → EUR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222233"/>
                </a:solidFill>
              </a:rPr>
              <a:t>  ✅ Asset-Typ-Erkennung (Aktie, ETF, Option, Anleihe …)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222233"/>
                </a:solidFill>
              </a:rPr>
              <a:t>  ✅ Konzentrations-Warnungen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222233"/>
                </a:solidFill>
              </a:rPr>
              <a:t>  ✅ KI-Kommentar (deutsch)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64BA2"/>
                </a:solidFill>
              </a:rPr>
              <a:t>Geplant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222233"/>
                </a:solidFill>
              </a:rPr>
              <a:t>  🔲 PDF-Parser verbessern (Tabellen-Erkennung)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222233"/>
                </a:solidFill>
              </a:rPr>
              <a:t>  🔲 Historische Performance (Rendite-Chart)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222233"/>
                </a:solidFill>
              </a:rPr>
              <a:t>  🔲 Mehrere Depots vergleichen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222233"/>
                </a:solidFill>
              </a:rPr>
              <a:t>  🔲 Export als PDF-Report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222233"/>
                </a:solidFill>
              </a:rPr>
              <a:t>  🔲 AWS Deployment abschließen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371600"/>
            <a:ext cx="36576" cy="50292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Depot-MVP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667EEA"/>
                </a:solidFill>
              </a:rPr>
              <a:t>Portfolio-Analyse · sofort · automatisch · kostenlos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BBBBDD"/>
                </a:solidFill>
              </a:rPr>
              <a:t>Entwickelt von Tim Solovyev  ·  Dr. Mayer Consulting GmbH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AA"/>
                </a:solidFill>
              </a:rPr>
              <a:t>github  ·  AWS EB  ·  localhost:8080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